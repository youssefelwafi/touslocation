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D3A8A"/>
              </a:gs>
            </a:gsLst>
            <a:lin ang="30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43719" y="658368"/>
            <a:ext cx="2704256" cy="191109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327" y="950976"/>
            <a:ext cx="2119040" cy="1325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26060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Segoe UI"/>
              </a:rPr>
              <a:t>TousLocation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CFE0F5"/>
                </a:solidFill>
                <a:latin typeface="Segoe UI"/>
              </a:rPr>
              <a:t>Application web de gestion et de location de matériel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8848" y="4343400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1B3566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0EA5E9"/>
                </a:solidFill>
                <a:latin typeface="Segoe UI"/>
              </a:rPr>
              <a:t>PROJET DE FIN D'ÉTUDES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502920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9FB3D1"/>
                </a:solidFill>
                <a:latin typeface="Segoe UI"/>
              </a:rPr>
              <a:t>Réalisé par :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Youssef ELWAFI</a:t>
            </a:r>
          </a:p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9FB3D1"/>
                </a:solidFill>
                <a:latin typeface="Segoe UI"/>
              </a:rPr>
              <a:t>Encadré par :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M. Othmane DAIF</a:t>
            </a:r>
          </a:p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9FB3D1"/>
                </a:solidFill>
                <a:latin typeface="Segoe UI"/>
              </a:rPr>
              <a:t>Établissement :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OFPPT – ISTA ISAG, Casablanca</a:t>
            </a:r>
          </a:p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9FB3D1"/>
                </a:solidFill>
                <a:latin typeface="Segoe UI"/>
              </a:rPr>
              <a:t>Année :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2025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563EB"/>
                </a:solidFill>
                <a:latin typeface="Segoe UI"/>
              </a:rP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Plan de la présentation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463040"/>
            <a:ext cx="77724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Segoe UI"/>
              </a:rPr>
              <a:t>TousLocation  ·  Soutenance PFE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518922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20240"/>
            <a:ext cx="91440" cy="1188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33271" y="230428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2066544"/>
            <a:ext cx="41376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Présentation du projet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Contexte, problématique et objectifs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2492" y="1920240"/>
            <a:ext cx="518922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492" y="1920240"/>
            <a:ext cx="91440" cy="1188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78524" y="230428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1172" y="2066544"/>
            <a:ext cx="41376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Analyse &amp; conception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Cas d'utilisation, architecture, modèles UML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346704"/>
            <a:ext cx="518922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46704"/>
            <a:ext cx="91440" cy="1188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33271" y="3730752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19" y="3493008"/>
            <a:ext cx="41376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Technologies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Stack technique et outils retenus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2492" y="3346704"/>
            <a:ext cx="518922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2492" y="3346704"/>
            <a:ext cx="91440" cy="1188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78524" y="3730752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1172" y="3493008"/>
            <a:ext cx="41376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Réalisation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Fonctionnalités et architecture applicative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773168"/>
            <a:ext cx="518922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773168"/>
            <a:ext cx="91440" cy="11887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33271" y="5157216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19" y="4919472"/>
            <a:ext cx="41376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Démonstration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Captures d'écran des principales vues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773168"/>
            <a:ext cx="518922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773168"/>
            <a:ext cx="91440" cy="1188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78524" y="5157216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91172" y="4919472"/>
            <a:ext cx="41376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Bilan &amp; perspectives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Conclusion et évolutions futures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3294B"/>
              </a:gs>
            </a:gsLst>
            <a:lin ang="33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0" y="182880"/>
            <a:ext cx="6126480" cy="6492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3000" b="1" i="0">
                <a:solidFill>
                  <a:srgbClr val="21406F"/>
                </a:solidFill>
                <a:latin typeface="Segoe U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788920"/>
            <a:ext cx="68580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7498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Segoe UI"/>
              </a:rPr>
              <a:t>Présentation du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BFD7F2"/>
                </a:solidFill>
                <a:latin typeface="Segoe UI"/>
              </a:rPr>
              <a:t>Contexte · problématique · objectifs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FB3D1"/>
                </a:solidFill>
                <a:latin typeface="Segoe UI"/>
              </a:rPr>
              <a:t>TousLocation  ·  Soutenance PFE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556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FB3D1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563EB"/>
                </a:solidFill>
                <a:latin typeface="Segoe UI"/>
              </a:rPr>
              <a:t>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Contexte et problématique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463040"/>
            <a:ext cx="77724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Segoe UI"/>
              </a:rPr>
              <a:t>TousLocation  ·  Soutenance PFE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50" b="1" i="0">
                <a:solidFill>
                  <a:srgbClr val="2563EB"/>
                </a:solidFill>
                <a:latin typeface="Segoe UI"/>
              </a:rPr>
              <a:t>◆   </a:t>
            </a:r>
            <a:r>
              <a:rPr sz="1750" b="0" i="0">
                <a:solidFill>
                  <a:srgbClr val="0F172A"/>
                </a:solidFill>
                <a:latin typeface="Segoe UI"/>
              </a:rPr>
              <a:t>Le marché de la location de matériel (informatique, chantier, événementiel) est en forte croissance au Maroc.</a:t>
            </a:r>
          </a:p>
          <a:p>
            <a:pPr>
              <a:spcAft>
                <a:spcPts val="1100"/>
              </a:spcAft>
            </a:pPr>
            <a:r>
              <a:rPr sz="1750" b="1" i="0">
                <a:solidFill>
                  <a:srgbClr val="2563EB"/>
                </a:solidFill>
                <a:latin typeface="Segoe UI"/>
              </a:rPr>
              <a:t>◆   </a:t>
            </a:r>
            <a:r>
              <a:rPr sz="1750" b="0" i="0">
                <a:solidFill>
                  <a:srgbClr val="0F172A"/>
                </a:solidFill>
                <a:latin typeface="Segoe UI"/>
              </a:rPr>
              <a:t>La gestion reste souvent manuelle — papier, fichiers Excel — peu fiable et chronophage.</a:t>
            </a:r>
          </a:p>
          <a:p>
            <a:pPr lvl="1">
              <a:spcAft>
                <a:spcPts val="500"/>
              </a:spcAft>
            </a:pPr>
            <a:r>
              <a:rPr sz="1550" b="1" i="0">
                <a:solidFill>
                  <a:srgbClr val="64748B"/>
                </a:solidFill>
                <a:latin typeface="Segoe UI"/>
              </a:rPr>
              <a:t>—   </a:t>
            </a:r>
            <a:r>
              <a:rPr sz="1550" b="0" i="0">
                <a:solidFill>
                  <a:srgbClr val="334155"/>
                </a:solidFill>
                <a:latin typeface="Segoe UI"/>
              </a:rPr>
              <a:t>Suivi difficile de la disponibilité et des réservations.</a:t>
            </a:r>
          </a:p>
          <a:p>
            <a:pPr lvl="1">
              <a:spcAft>
                <a:spcPts val="500"/>
              </a:spcAft>
            </a:pPr>
            <a:r>
              <a:rPr sz="1550" b="1" i="0">
                <a:solidFill>
                  <a:srgbClr val="64748B"/>
                </a:solidFill>
                <a:latin typeface="Segoe UI"/>
              </a:rPr>
              <a:t>—   </a:t>
            </a:r>
            <a:r>
              <a:rPr sz="1550" b="0" i="0">
                <a:solidFill>
                  <a:srgbClr val="334155"/>
                </a:solidFill>
                <a:latin typeface="Segoe UI"/>
              </a:rPr>
              <a:t>Facturation et encaissements peu rigoureux.</a:t>
            </a:r>
          </a:p>
          <a:p>
            <a:pPr lvl="1">
              <a:spcAft>
                <a:spcPts val="500"/>
              </a:spcAft>
            </a:pPr>
            <a:r>
              <a:rPr sz="1550" b="1" i="0">
                <a:solidFill>
                  <a:srgbClr val="64748B"/>
                </a:solidFill>
                <a:latin typeface="Segoe UI"/>
              </a:rPr>
              <a:t>—   </a:t>
            </a:r>
            <a:r>
              <a:rPr sz="1550" b="0" i="0">
                <a:solidFill>
                  <a:srgbClr val="334155"/>
                </a:solidFill>
                <a:latin typeface="Segoe UI"/>
              </a:rPr>
              <a:t>Manque de visibilité sur la rentabilité (revenus / coûts).</a:t>
            </a:r>
          </a:p>
          <a:p>
            <a:pPr>
              <a:spcAft>
                <a:spcPts val="1100"/>
              </a:spcAft>
            </a:pPr>
            <a:r>
              <a:rPr sz="1750" b="1" i="0">
                <a:solidFill>
                  <a:srgbClr val="2563EB"/>
                </a:solidFill>
                <a:latin typeface="Segoe UI"/>
              </a:rPr>
              <a:t>◆   </a:t>
            </a:r>
            <a:r>
              <a:rPr sz="1750" b="0" i="0">
                <a:solidFill>
                  <a:srgbClr val="0F172A"/>
                </a:solidFill>
                <a:latin typeface="Segoe UI"/>
              </a:rPr>
              <a:t>D'où le besoin d'une solution web centralisée, moderne et adaptée au contexte marocain.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563EB"/>
                </a:solidFill>
                <a:latin typeface="Segoe UI"/>
              </a:rPr>
              <a:t>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Objectifs du projet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463040"/>
            <a:ext cx="77724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Segoe UI"/>
              </a:rPr>
              <a:t>TousLocation  ·  Soutenance PFE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33741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11680"/>
            <a:ext cx="91440" cy="1828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33271" y="271576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2157984"/>
            <a:ext cx="23225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Centraliser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Matériel, clients et locations dans une seule plateforme.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7" y="2011680"/>
            <a:ext cx="33741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7" y="2011680"/>
            <a:ext cx="91440" cy="1828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63440" y="271576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2157984"/>
            <a:ext cx="23225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Automatiser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Facturation, TVA et suivi des paiements.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7575" y="2011680"/>
            <a:ext cx="33741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7575" y="2011680"/>
            <a:ext cx="91440" cy="1828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93607" y="271576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6255" y="2157984"/>
            <a:ext cx="23225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Couvrir le cycle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Achats, ventes, dépenses et inventaire.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078224"/>
            <a:ext cx="33741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078224"/>
            <a:ext cx="91440" cy="1828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33271" y="4782312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19" y="4224528"/>
            <a:ext cx="23225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Piloter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Rapports financiers : bénéfice et chiffre d'affaires.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7" y="4078224"/>
            <a:ext cx="33741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7" y="4078224"/>
            <a:ext cx="91440" cy="18288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63440" y="4782312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76088" y="4224528"/>
            <a:ext cx="23225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Mutualiser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Plateforme multi-boutiques (SaaS) isolée par espace.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37575" y="4078224"/>
            <a:ext cx="33741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4078224"/>
            <a:ext cx="91440" cy="1828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93607" y="4782312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06255" y="4224528"/>
            <a:ext cx="23225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Moderniser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Interface responsive et bilingue français / arabe.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563EB"/>
                </a:solidFill>
                <a:latin typeface="Segoe UI"/>
              </a:rPr>
              <a:t>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Solution proposée : TousLocation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463040"/>
            <a:ext cx="77724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Segoe UI"/>
              </a:rPr>
              <a:t>TousLocation  ·  Soutenance PFE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50" b="1" i="0">
                <a:solidFill>
                  <a:srgbClr val="2563EB"/>
                </a:solidFill>
                <a:latin typeface="Segoe UI"/>
              </a:rPr>
              <a:t>◆   </a:t>
            </a:r>
            <a:r>
              <a:rPr sz="1750" b="0" i="0">
                <a:solidFill>
                  <a:srgbClr val="0F172A"/>
                </a:solidFill>
                <a:latin typeface="Segoe UI"/>
              </a:rPr>
              <a:t>Application web full-stack : API REST Laravel + interface React (SPA).</a:t>
            </a:r>
          </a:p>
          <a:p>
            <a:pPr>
              <a:spcAft>
                <a:spcPts val="1100"/>
              </a:spcAft>
            </a:pPr>
            <a:r>
              <a:rPr sz="1750" b="1" i="0">
                <a:solidFill>
                  <a:srgbClr val="2563EB"/>
                </a:solidFill>
                <a:latin typeface="Segoe UI"/>
              </a:rPr>
              <a:t>◆   </a:t>
            </a:r>
            <a:r>
              <a:rPr sz="1750" b="0" i="0">
                <a:solidFill>
                  <a:srgbClr val="0F172A"/>
                </a:solidFill>
                <a:latin typeface="Segoe UI"/>
              </a:rPr>
              <a:t>Place de marché multi-boutiques — chaque entreprise gère son espace isolé.</a:t>
            </a:r>
          </a:p>
          <a:p>
            <a:pPr>
              <a:spcAft>
                <a:spcPts val="1100"/>
              </a:spcAft>
            </a:pPr>
            <a:r>
              <a:rPr sz="1750" b="1" i="0">
                <a:solidFill>
                  <a:srgbClr val="2563EB"/>
                </a:solidFill>
                <a:latin typeface="Segoe UI"/>
              </a:rPr>
              <a:t>◆   </a:t>
            </a:r>
            <a:r>
              <a:rPr sz="1750" b="0" i="0">
                <a:solidFill>
                  <a:srgbClr val="0F172A"/>
                </a:solidFill>
                <a:latin typeface="Segoe UI"/>
              </a:rPr>
              <a:t>Espace client public : catalogue, recherche, panier et commande en ligne.</a:t>
            </a:r>
          </a:p>
          <a:p>
            <a:pPr>
              <a:spcAft>
                <a:spcPts val="1100"/>
              </a:spcAft>
            </a:pPr>
            <a:r>
              <a:rPr sz="1750" b="1" i="0">
                <a:solidFill>
                  <a:srgbClr val="2563EB"/>
                </a:solidFill>
                <a:latin typeface="Segoe UI"/>
              </a:rPr>
              <a:t>◆   </a:t>
            </a:r>
            <a:r>
              <a:rPr sz="1750" b="0" i="0">
                <a:solidFill>
                  <a:srgbClr val="0F172A"/>
                </a:solidFill>
                <a:latin typeface="Segoe UI"/>
              </a:rPr>
              <a:t>Documents PDF (factures, reçus), encaissements partiels et reporting.</a:t>
            </a:r>
          </a:p>
          <a:p>
            <a:pPr>
              <a:spcAft>
                <a:spcPts val="1100"/>
              </a:spcAft>
            </a:pPr>
            <a:r>
              <a:rPr sz="1750" b="1" i="0">
                <a:solidFill>
                  <a:srgbClr val="2563EB"/>
                </a:solidFill>
                <a:latin typeface="Segoe UI"/>
              </a:rPr>
              <a:t>◆   </a:t>
            </a:r>
            <a:r>
              <a:rPr sz="1750" b="0" i="0">
                <a:solidFill>
                  <a:srgbClr val="0F172A"/>
                </a:solidFill>
                <a:latin typeface="Segoe UI"/>
              </a:rPr>
              <a:t>Nomenclature 100 % française, interface bilingue FR / AR (RTL).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3294B"/>
              </a:gs>
            </a:gsLst>
            <a:lin ang="33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0" y="182880"/>
            <a:ext cx="6126480" cy="6492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3000" b="1" i="0">
                <a:solidFill>
                  <a:srgbClr val="21406F"/>
                </a:solidFill>
                <a:latin typeface="Segoe U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788920"/>
            <a:ext cx="685800" cy="7315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7498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Segoe UI"/>
              </a:rPr>
              <a:t>Analyse &amp; conception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BFD7F2"/>
                </a:solidFill>
                <a:latin typeface="Segoe UI"/>
              </a:rPr>
              <a:t>Acteurs · architecture · modèles UML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FB3D1"/>
                </a:solidFill>
                <a:latin typeface="Segoe UI"/>
              </a:rPr>
              <a:t>TousLocation  ·  Soutenance PFE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556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FB3D1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366F1"/>
                </a:solidFill>
                <a:latin typeface="Segoe UI"/>
              </a:rPr>
              <a:t>CONCEPTION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Acteurs et cas d'utilisation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463040"/>
            <a:ext cx="777240" cy="45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Segoe UI"/>
              </a:rPr>
              <a:t>TousLocation  ·  Soutenance PFE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85841" y="1636776"/>
            <a:ext cx="1620012" cy="445312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se-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2145" y="1783080"/>
            <a:ext cx="1327404" cy="41605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64748B"/>
                </a:solidFill>
                <a:latin typeface="Segoe UI"/>
              </a:rPr>
              <a:t>Figure — Cas d'utilisation (super-admin, gérant, employé, client)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366F1"/>
                </a:solidFill>
                <a:latin typeface="Segoe UI"/>
              </a:rPr>
              <a:t>CONCEPTION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Architecture applicative (MVC)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463040"/>
            <a:ext cx="777240" cy="45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Segoe UI"/>
              </a:rPr>
              <a:t>TousLocation  ·  Soutenance PFE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11748" y="1636776"/>
            <a:ext cx="7368199" cy="445312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rchitecture-m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052" y="1783080"/>
            <a:ext cx="7075591" cy="41605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64748B"/>
                </a:solidFill>
                <a:latin typeface="Segoe UI"/>
              </a:rPr>
              <a:t>Figure — React (Vue) ↔ Laravel (Contrôleur) ↔ Eloquent (Modèle) ↔ MySQL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366F1"/>
                </a:solidFill>
                <a:latin typeface="Segoe UI"/>
              </a:rPr>
              <a:t>CONCEPTION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Modèle de données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463040"/>
            <a:ext cx="777240" cy="45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Segoe UI"/>
              </a:rPr>
              <a:t>TousLocation  ·  Soutenance PFE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5828" y="1636776"/>
            <a:ext cx="10360039" cy="445312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tabase-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132" y="1783080"/>
            <a:ext cx="10067431" cy="41605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64748B"/>
                </a:solidFill>
                <a:latin typeface="Segoe UI"/>
              </a:rPr>
              <a:t>Figure — Schéma entité-association (base de données)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366F1"/>
                </a:solidFill>
                <a:latin typeface="Segoe UI"/>
              </a:rPr>
              <a:t>CONCEPTION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Diagramme de classes (UML)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463040"/>
            <a:ext cx="777240" cy="45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Segoe UI"/>
              </a:rPr>
              <a:t>TousLocation  ·  Soutenance PFE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99625" y="1636776"/>
            <a:ext cx="3792444" cy="445312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ml-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929" y="1783080"/>
            <a:ext cx="3499836" cy="41605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64748B"/>
                </a:solidFill>
                <a:latin typeface="Segoe UI"/>
              </a:rPr>
              <a:t>Figure — Diagramme de classes (modèles métier)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3294B"/>
              </a:gs>
            </a:gsLst>
            <a:lin ang="33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0" y="182880"/>
            <a:ext cx="6126480" cy="6492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3000" b="1" i="0">
                <a:solidFill>
                  <a:srgbClr val="21406F"/>
                </a:solidFill>
                <a:latin typeface="Segoe UI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788920"/>
            <a:ext cx="68580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7498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Segoe UI"/>
              </a:rPr>
              <a:t>Réalisation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BFD7F2"/>
                </a:solidFill>
                <a:latin typeface="Segoe UI"/>
              </a:rPr>
              <a:t>Technologies · fonctionnalités · sécurité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FB3D1"/>
                </a:solidFill>
                <a:latin typeface="Segoe UI"/>
              </a:rPr>
              <a:t>TousLocation  ·  Soutenance PFE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556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FB3D1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Segoe UI"/>
              </a:rPr>
              <a:t>RÉALISATION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Technologies utilisées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463040"/>
            <a:ext cx="777240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Segoe UI"/>
              </a:rPr>
              <a:t>TousLocation  ·  Soutenance PFE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33741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11680"/>
            <a:ext cx="91440" cy="1828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33271" y="271576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2157984"/>
            <a:ext cx="23225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Laravel 13 (PHP 8.3)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API REST · Eloquent ORM · Sanctum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7" y="2011680"/>
            <a:ext cx="33741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7" y="2011680"/>
            <a:ext cx="91440" cy="1828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63440" y="271576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2157984"/>
            <a:ext cx="23225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React 18 + Vite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SPA · React Router · Axios · i18next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7575" y="2011680"/>
            <a:ext cx="33741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7575" y="2011680"/>
            <a:ext cx="91440" cy="1828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93607" y="271576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6255" y="2157984"/>
            <a:ext cx="23225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MySQL / MariaDB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Base relationnelle multi-tenant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078224"/>
            <a:ext cx="33741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078224"/>
            <a:ext cx="91440" cy="1828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33271" y="4782312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19" y="4224528"/>
            <a:ext cx="23225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dompdf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Génération des factures et reçus PDF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7" y="4078224"/>
            <a:ext cx="33741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7" y="4078224"/>
            <a:ext cx="91440" cy="18288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63440" y="4782312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76088" y="4224528"/>
            <a:ext cx="23225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FR / AR (RTL)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Interface bilingue et responsive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37575" y="4078224"/>
            <a:ext cx="33741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4078224"/>
            <a:ext cx="91440" cy="1828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93607" y="4782312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06255" y="4224528"/>
            <a:ext cx="23225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Git / GitHub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Versionnage · Composer · npm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Segoe UI"/>
              </a:rPr>
              <a:t>RÉALISATION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Fonctionnalités clés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463040"/>
            <a:ext cx="777240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Segoe UI"/>
              </a:rPr>
              <a:t>TousLocation  ·  Soutenance PFE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33741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11680"/>
            <a:ext cx="91440" cy="1828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33271" y="271576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2157984"/>
            <a:ext cx="23225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Catalogue &amp; stock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Images, catégories, disponibilité, battement.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7" y="2011680"/>
            <a:ext cx="33741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7" y="2011680"/>
            <a:ext cx="91440" cy="1828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63440" y="271576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2157984"/>
            <a:ext cx="23225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Locations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Multi-articles, TVA, paiements partiels, facture PDF.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7575" y="2011680"/>
            <a:ext cx="33741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7575" y="2011680"/>
            <a:ext cx="91440" cy="1828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93607" y="271576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6255" y="2157984"/>
            <a:ext cx="23225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Achats &amp; ventes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Stock automatique + encaissements et reçus.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078224"/>
            <a:ext cx="33741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078224"/>
            <a:ext cx="91440" cy="1828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33271" y="4782312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19" y="4224528"/>
            <a:ext cx="23225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Dépenses &amp; ajustements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Charges et inventaire tracés.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7" y="4078224"/>
            <a:ext cx="33741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7" y="4078224"/>
            <a:ext cx="91440" cy="18288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63440" y="4782312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76088" y="4224528"/>
            <a:ext cx="23225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Rapports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Bénéfice, chiffre d'affaires, graphiques.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37575" y="4078224"/>
            <a:ext cx="33741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4078224"/>
            <a:ext cx="91440" cy="1828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93607" y="4782312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06255" y="4224528"/>
            <a:ext cx="23225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Tableau Kanban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Suivi visuel des locations (glisser-déposer).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Segoe UI"/>
              </a:rPr>
              <a:t>RÉALISATION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Place de marché client (panier)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463040"/>
            <a:ext cx="777240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Segoe UI"/>
              </a:rPr>
              <a:t>TousLocation  ·  Soutenance PFE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5669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◆   </a:t>
            </a:r>
            <a:r>
              <a:rPr sz="1600" b="0" i="0">
                <a:solidFill>
                  <a:srgbClr val="0F172A"/>
                </a:solidFill>
                <a:latin typeface="Segoe UI"/>
              </a:rPr>
              <a:t>Catalogue de toutes les boutiques en un seul espace.</a:t>
            </a:r>
          </a:p>
          <a:p>
            <a:pPr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◆   </a:t>
            </a:r>
            <a:r>
              <a:rPr sz="1600" b="0" i="0">
                <a:solidFill>
                  <a:srgbClr val="0F172A"/>
                </a:solidFill>
                <a:latin typeface="Segoe UI"/>
              </a:rPr>
              <a:t>Recherche et filtre par boutique.</a:t>
            </a:r>
          </a:p>
          <a:p>
            <a:pPr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◆   </a:t>
            </a:r>
            <a:r>
              <a:rPr sz="1600" b="0" i="0">
                <a:solidFill>
                  <a:srgbClr val="0F172A"/>
                </a:solidFill>
                <a:latin typeface="Segoe UI"/>
              </a:rPr>
              <a:t>Panier multi-articles (une boutique à la fois).</a:t>
            </a:r>
          </a:p>
          <a:p>
            <a:pPr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◆   </a:t>
            </a:r>
            <a:r>
              <a:rPr sz="1600" b="0" i="0">
                <a:solidFill>
                  <a:srgbClr val="0F172A"/>
                </a:solidFill>
                <a:latin typeface="Segoe UI"/>
              </a:rPr>
              <a:t>Période par défaut « maintenant », sans réservation passée.</a:t>
            </a:r>
          </a:p>
          <a:p>
            <a:pPr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◆   </a:t>
            </a:r>
            <a:r>
              <a:rPr sz="1600" b="0" i="0">
                <a:solidFill>
                  <a:srgbClr val="0F172A"/>
                </a:solidFill>
                <a:latin typeface="Segoe UI"/>
              </a:rPr>
              <a:t>Commande rattachée automatiquement à la bonne boutique.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828800"/>
            <a:ext cx="5349240" cy="429768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equence-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540" y="2057400"/>
            <a:ext cx="5212080" cy="228693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Segoe UI"/>
              </a:rPr>
              <a:t>RÉALISATION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Sécurité et multi-boutiques (SaaS)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463040"/>
            <a:ext cx="777240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Segoe UI"/>
              </a:rPr>
              <a:t>TousLocation  ·  Soutenance PFE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50" b="1" i="0">
                <a:solidFill>
                  <a:srgbClr val="2563EB"/>
                </a:solidFill>
                <a:latin typeface="Segoe UI"/>
              </a:rPr>
              <a:t>◆   </a:t>
            </a:r>
            <a:r>
              <a:rPr sz="1750" b="0" i="0">
                <a:solidFill>
                  <a:srgbClr val="0F172A"/>
                </a:solidFill>
                <a:latin typeface="Segoe UI"/>
              </a:rPr>
              <a:t>Authentification par jeton Bearer (Sanctum) ; mots de passe hachés (bcrypt).</a:t>
            </a:r>
          </a:p>
          <a:p>
            <a:pPr>
              <a:spcAft>
                <a:spcPts val="1100"/>
              </a:spcAft>
            </a:pPr>
            <a:r>
              <a:rPr sz="1750" b="1" i="0">
                <a:solidFill>
                  <a:srgbClr val="2563EB"/>
                </a:solidFill>
                <a:latin typeface="Segoe UI"/>
              </a:rPr>
              <a:t>◆   </a:t>
            </a:r>
            <a:r>
              <a:rPr sz="1750" b="0" i="0">
                <a:solidFill>
                  <a:srgbClr val="0F172A"/>
                </a:solidFill>
                <a:latin typeface="Segoe UI"/>
              </a:rPr>
              <a:t>Isolation des données par boutique via le trait TenantScoped (proprietaire_id).</a:t>
            </a:r>
          </a:p>
          <a:p>
            <a:pPr>
              <a:spcAft>
                <a:spcPts val="1100"/>
              </a:spcAft>
            </a:pPr>
            <a:r>
              <a:rPr sz="1750" b="1" i="0">
                <a:solidFill>
                  <a:srgbClr val="2563EB"/>
                </a:solidFill>
                <a:latin typeface="Segoe UI"/>
              </a:rPr>
              <a:t>◆   </a:t>
            </a:r>
            <a:r>
              <a:rPr sz="1750" b="0" i="0">
                <a:solidFill>
                  <a:srgbClr val="0F172A"/>
                </a:solidFill>
                <a:latin typeface="Segoe UI"/>
              </a:rPr>
              <a:t>Rôles : super-admin, gérant, employé, client.</a:t>
            </a:r>
          </a:p>
          <a:p>
            <a:pPr lvl="1">
              <a:spcAft>
                <a:spcPts val="500"/>
              </a:spcAft>
            </a:pPr>
            <a:r>
              <a:rPr sz="1550" b="1" i="0">
                <a:solidFill>
                  <a:srgbClr val="64748B"/>
                </a:solidFill>
                <a:latin typeface="Segoe UI"/>
              </a:rPr>
              <a:t>—   </a:t>
            </a:r>
            <a:r>
              <a:rPr sz="1550" b="0" i="0">
                <a:solidFill>
                  <a:srgbClr val="334155"/>
                </a:solidFill>
                <a:latin typeface="Segoe UI"/>
              </a:rPr>
              <a:t>Gérants créés uniquement par le super-admin.</a:t>
            </a:r>
          </a:p>
          <a:p>
            <a:pPr lvl="1">
              <a:spcAft>
                <a:spcPts val="500"/>
              </a:spcAft>
            </a:pPr>
            <a:r>
              <a:rPr sz="1550" b="1" i="0">
                <a:solidFill>
                  <a:srgbClr val="64748B"/>
                </a:solidFill>
                <a:latin typeface="Segoe UI"/>
              </a:rPr>
              <a:t>—   </a:t>
            </a:r>
            <a:r>
              <a:rPr sz="1550" b="0" i="0">
                <a:solidFill>
                  <a:srgbClr val="334155"/>
                </a:solidFill>
                <a:latin typeface="Segoe UI"/>
              </a:rPr>
              <a:t>Permissions par module pour les employés.</a:t>
            </a:r>
          </a:p>
          <a:p>
            <a:pPr lvl="1">
              <a:spcAft>
                <a:spcPts val="500"/>
              </a:spcAft>
            </a:pPr>
            <a:r>
              <a:rPr sz="1550" b="1" i="0">
                <a:solidFill>
                  <a:srgbClr val="64748B"/>
                </a:solidFill>
                <a:latin typeface="Segoe UI"/>
              </a:rPr>
              <a:t>—   </a:t>
            </a:r>
            <a:r>
              <a:rPr sz="1550" b="0" i="0">
                <a:solidFill>
                  <a:srgbClr val="334155"/>
                </a:solidFill>
                <a:latin typeface="Segoe UI"/>
              </a:rPr>
              <a:t>Clients en libre-inscription, commande sur toutes les boutiques.</a:t>
            </a:r>
          </a:p>
          <a:p>
            <a:pPr>
              <a:spcAft>
                <a:spcPts val="1100"/>
              </a:spcAft>
            </a:pPr>
            <a:r>
              <a:rPr sz="1750" b="1" i="0">
                <a:solidFill>
                  <a:srgbClr val="2563EB"/>
                </a:solidFill>
                <a:latin typeface="Segoe UI"/>
              </a:rPr>
              <a:t>◆   </a:t>
            </a:r>
            <a:r>
              <a:rPr sz="1750" b="0" i="0">
                <a:solidFill>
                  <a:srgbClr val="0F172A"/>
                </a:solidFill>
                <a:latin typeface="Segoe UI"/>
              </a:rPr>
              <a:t>Validation systématique côté serveur ; accès croisé → 404.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Segoe UI"/>
              </a:rPr>
              <a:t>RÉALISATION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Adaptation au contexte marocain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463040"/>
            <a:ext cx="777240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Segoe UI"/>
              </a:rPr>
              <a:t>TousLocation  ·  Soutenance PFE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33741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11680"/>
            <a:ext cx="91440" cy="1828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33271" y="271576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2157984"/>
            <a:ext cx="23225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Dirham (MAD)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Devise par défaut ; multi-devises.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7" y="2011680"/>
            <a:ext cx="33741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7" y="2011680"/>
            <a:ext cx="91440" cy="1828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63440" y="271576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2157984"/>
            <a:ext cx="23225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TVA marocaine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20 %, 14 %, 10 %, 0 % configurables.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7575" y="2011680"/>
            <a:ext cx="33741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7575" y="2011680"/>
            <a:ext cx="91440" cy="1828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93607" y="271576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6255" y="2157984"/>
            <a:ext cx="23225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Localisation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+212, dates JJ/MM/AAAA, Africa/Casablanca.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078224"/>
            <a:ext cx="33741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078224"/>
            <a:ext cx="91440" cy="1828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33271" y="4782312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19" y="4224528"/>
            <a:ext cx="23225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Bilingue FR / AR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Interface RTL pour l'arabe.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7" y="4078224"/>
            <a:ext cx="33741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7" y="4078224"/>
            <a:ext cx="91440" cy="18288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63440" y="4782312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76088" y="4224528"/>
            <a:ext cx="23225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Catalogues réels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Makita, Transpalette Maroc importés.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37575" y="4078224"/>
            <a:ext cx="33741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4078224"/>
            <a:ext cx="91440" cy="1828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93607" y="4782312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06255" y="4224528"/>
            <a:ext cx="23225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Design épuré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Interface moderne et responsive.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3294B"/>
              </a:gs>
            </a:gsLst>
            <a:lin ang="33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0" y="182880"/>
            <a:ext cx="6126480" cy="6492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3000" b="1" i="0">
                <a:solidFill>
                  <a:srgbClr val="21406F"/>
                </a:solidFill>
                <a:latin typeface="Segoe UI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788920"/>
            <a:ext cx="68580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7498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Segoe UI"/>
              </a:rPr>
              <a:t>Démonstration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BFD7F2"/>
                </a:solidFill>
                <a:latin typeface="Segoe UI"/>
              </a:rPr>
              <a:t>Captures d'écran de l'application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FB3D1"/>
                </a:solidFill>
                <a:latin typeface="Segoe UI"/>
              </a:rPr>
              <a:t>TousLocation  ·  Soutenance PFE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556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FB3D1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Segoe UI"/>
              </a:rPr>
              <a:t>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Page de connexion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463040"/>
            <a:ext cx="777240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Segoe UI"/>
              </a:rPr>
              <a:t>TousLocation  ·  Soutenance PFE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28519" y="1591056"/>
            <a:ext cx="7534656" cy="481888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-connex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823" y="1737360"/>
            <a:ext cx="7242048" cy="452628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64748B"/>
                </a:solidFill>
                <a:latin typeface="Segoe UI"/>
              </a:rPr>
              <a:t>Connexion et navigation publique (Accueil, Boutiques, langue)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Segoe UI"/>
              </a:rPr>
              <a:t>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Boutiques publiques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463040"/>
            <a:ext cx="777240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Segoe UI"/>
              </a:rPr>
              <a:t>TousLocation  ·  Soutenance PFE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28519" y="1591056"/>
            <a:ext cx="7534656" cy="481888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-boutiq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823" y="1737360"/>
            <a:ext cx="7242048" cy="452628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64748B"/>
                </a:solidFill>
                <a:latin typeface="Segoe UI"/>
              </a:rPr>
              <a:t>Vitrine : liste des boutiques disponibles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Segoe UI"/>
              </a:rPr>
              <a:t>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Tableau de bord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463040"/>
            <a:ext cx="777240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Segoe UI"/>
              </a:rPr>
              <a:t>TousLocation  ·  Soutenance PFE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28519" y="1591056"/>
            <a:ext cx="7534656" cy="481888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-tableau-b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823" y="1737360"/>
            <a:ext cx="7242048" cy="452628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64748B"/>
                </a:solidFill>
                <a:latin typeface="Segoe UI"/>
              </a:rPr>
              <a:t>Indicateurs + tableau Kanban des locations (glisser-déposer)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Segoe UI"/>
              </a:rPr>
              <a:t>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Catalogue du matériel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463040"/>
            <a:ext cx="777240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Segoe UI"/>
              </a:rPr>
              <a:t>TousLocation  ·  Soutenance PFE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28519" y="1591056"/>
            <a:ext cx="7534656" cy="481888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-materi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823" y="1737360"/>
            <a:ext cx="7242048" cy="452628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64748B"/>
                </a:solidFill>
                <a:latin typeface="Segoe UI"/>
              </a:rPr>
              <a:t>Inventaire : catégorie, marque, prix/jour, stock, disponibilité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Segoe UI"/>
              </a:rPr>
              <a:t>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Gestion des locations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463040"/>
            <a:ext cx="777240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Segoe UI"/>
              </a:rPr>
              <a:t>TousLocation  ·  Soutenance PFE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28519" y="1591056"/>
            <a:ext cx="7534656" cy="481888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-lo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823" y="1737360"/>
            <a:ext cx="7242048" cy="452628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64748B"/>
                </a:solidFill>
                <a:latin typeface="Segoe UI"/>
              </a:rPr>
              <a:t>Locations : TVA, statut de paiement, facture PDF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Segoe UI"/>
              </a:rPr>
              <a:t>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Gestion des achats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463040"/>
            <a:ext cx="777240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Segoe UI"/>
              </a:rPr>
              <a:t>TousLocation  ·  Soutenance PFE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28519" y="1591056"/>
            <a:ext cx="7534656" cy="481888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7-ach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823" y="1737360"/>
            <a:ext cx="7242048" cy="452628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64748B"/>
                </a:solidFill>
                <a:latin typeface="Segoe UI"/>
              </a:rPr>
              <a:t>Approvisionnement : réception et encaissements fournisseur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Segoe UI"/>
              </a:rPr>
              <a:t>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Rapports et statistiques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463040"/>
            <a:ext cx="777240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Segoe UI"/>
              </a:rPr>
              <a:t>TousLocation  ·  Soutenance PFE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28519" y="1591056"/>
            <a:ext cx="7534656" cy="481888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9-rap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823" y="1737360"/>
            <a:ext cx="7242048" cy="452628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64748B"/>
                </a:solidFill>
                <a:latin typeface="Segoe UI"/>
              </a:rPr>
              <a:t>Bénéfice, chiffre d'affaires et graphiques par période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Segoe UI"/>
              </a:rPr>
              <a:t>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Paramètres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463040"/>
            <a:ext cx="777240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Segoe UI"/>
              </a:rPr>
              <a:t>TousLocation  ·  Soutenance PFE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28519" y="1591056"/>
            <a:ext cx="7534656" cy="481888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0-paramet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823" y="1737360"/>
            <a:ext cx="7242048" cy="452628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64748B"/>
                </a:solidFill>
                <a:latin typeface="Segoe UI"/>
              </a:rPr>
              <a:t>Référentiels : TVA, devises, unités, catégories, marques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Segoe UI"/>
              </a:rPr>
              <a:t>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Place de marché client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463040"/>
            <a:ext cx="777240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Segoe UI"/>
              </a:rPr>
              <a:t>TousLocation  ·  Soutenance PFE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28519" y="1591056"/>
            <a:ext cx="7534656" cy="481888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1-magas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823" y="1737360"/>
            <a:ext cx="7242048" cy="452628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64748B"/>
                </a:solidFill>
                <a:latin typeface="Segoe UI"/>
              </a:rPr>
              <a:t>Catalogue multi-boutiques : recherche, filtre et panier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Segoe UI"/>
              </a:rPr>
              <a:t>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Espace client — Mes locations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463040"/>
            <a:ext cx="777240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Segoe UI"/>
              </a:rPr>
              <a:t>TousLocation  ·  Soutenance PFE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28519" y="1591056"/>
            <a:ext cx="7534656" cy="481888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2-mes-lo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823" y="1737360"/>
            <a:ext cx="7242048" cy="452628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64748B"/>
                </a:solidFill>
                <a:latin typeface="Segoe UI"/>
              </a:rPr>
              <a:t>Suivi des locations et téléchargement des factures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3294B"/>
              </a:gs>
            </a:gsLst>
            <a:lin ang="33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0" y="182880"/>
            <a:ext cx="6126480" cy="6492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3000" b="1" i="0">
                <a:solidFill>
                  <a:srgbClr val="21406F"/>
                </a:solidFill>
                <a:latin typeface="Segoe UI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788920"/>
            <a:ext cx="6858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7498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Segoe UI"/>
              </a:rPr>
              <a:t>Bilan &amp;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BFD7F2"/>
                </a:solidFill>
                <a:latin typeface="Segoe UI"/>
              </a:rPr>
              <a:t>Déploiement ·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FB3D1"/>
                </a:solidFill>
                <a:latin typeface="Segoe UI"/>
              </a:rPr>
              <a:t>TousLocation  ·  Soutenance PFE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556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FB3D1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E0B"/>
                </a:solidFill>
                <a:latin typeface="Segoe UI"/>
              </a:rPr>
              <a:t>BILAN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Déploiement et mise en œuvre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463040"/>
            <a:ext cx="7772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Segoe UI"/>
              </a:rPr>
              <a:t>TousLocation  ·  Soutenance PFE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50" b="1" i="0">
                <a:solidFill>
                  <a:srgbClr val="F59E0B"/>
                </a:solidFill>
                <a:latin typeface="Segoe UI"/>
              </a:rPr>
              <a:t>◆   </a:t>
            </a:r>
            <a:r>
              <a:rPr sz="1750" b="0" i="0">
                <a:solidFill>
                  <a:srgbClr val="0F172A"/>
                </a:solidFill>
                <a:latin typeface="Segoe UI"/>
              </a:rPr>
              <a:t>Installation Windows « en un clic » (dépendances, base, données de démo).</a:t>
            </a:r>
          </a:p>
          <a:p>
            <a:pPr>
              <a:spcAft>
                <a:spcPts val="1100"/>
              </a:spcAft>
            </a:pPr>
            <a:r>
              <a:rPr sz="1750" b="1" i="0">
                <a:solidFill>
                  <a:srgbClr val="F59E0B"/>
                </a:solidFill>
                <a:latin typeface="Segoe UI"/>
              </a:rPr>
              <a:t>◆   </a:t>
            </a:r>
            <a:r>
              <a:rPr sz="1750" b="0" i="0">
                <a:solidFill>
                  <a:srgbClr val="0F172A"/>
                </a:solidFill>
                <a:latin typeface="Segoe UI"/>
              </a:rPr>
              <a:t>Backend : http://127.0.0.1:8000  ·  Frontend : http://localhost:5173</a:t>
            </a:r>
          </a:p>
          <a:p>
            <a:pPr>
              <a:spcAft>
                <a:spcPts val="1100"/>
              </a:spcAft>
            </a:pPr>
            <a:r>
              <a:rPr sz="1750" b="1" i="0">
                <a:solidFill>
                  <a:srgbClr val="F59E0B"/>
                </a:solidFill>
                <a:latin typeface="Segoe UI"/>
              </a:rPr>
              <a:t>◆   </a:t>
            </a:r>
            <a:r>
              <a:rPr sz="1750" b="0" i="0">
                <a:solidFill>
                  <a:srgbClr val="0F172A"/>
                </a:solidFill>
                <a:latin typeface="Segoe UI"/>
              </a:rPr>
              <a:t>Boutiques de démonstration prêtes (Makita, Transpalette, EventPro).</a:t>
            </a:r>
          </a:p>
          <a:p>
            <a:pPr>
              <a:spcAft>
                <a:spcPts val="1100"/>
              </a:spcAft>
            </a:pPr>
            <a:r>
              <a:rPr sz="1750" b="1" i="0">
                <a:solidFill>
                  <a:srgbClr val="F59E0B"/>
                </a:solidFill>
                <a:latin typeface="Segoe UI"/>
              </a:rPr>
              <a:t>◆   </a:t>
            </a:r>
            <a:r>
              <a:rPr sz="1750" b="0" i="0">
                <a:solidFill>
                  <a:srgbClr val="0F172A"/>
                </a:solidFill>
                <a:latin typeface="Segoe UI"/>
              </a:rPr>
              <a:t>Code source versionné sur GitHub.</a:t>
            </a:r>
          </a:p>
          <a:p>
            <a:pPr>
              <a:spcAft>
                <a:spcPts val="1100"/>
              </a:spcAft>
            </a:pPr>
            <a:r>
              <a:rPr sz="1750" b="1" i="0">
                <a:solidFill>
                  <a:srgbClr val="F59E0B"/>
                </a:solidFill>
                <a:latin typeface="Segoe UI"/>
              </a:rPr>
              <a:t>◆   </a:t>
            </a:r>
            <a:r>
              <a:rPr sz="1750" b="0" i="0">
                <a:solidFill>
                  <a:srgbClr val="0F172A"/>
                </a:solidFill>
                <a:latin typeface="Segoe UI"/>
              </a:rPr>
              <a:t>Démonstration en direct : catalogue, panier, location, facture PDF, rapports.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E0B"/>
                </a:solidFill>
                <a:latin typeface="Segoe UI"/>
              </a:rPr>
              <a:t>BILAN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Conclusion et perspectives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463040"/>
            <a:ext cx="7772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Segoe UI"/>
              </a:rPr>
              <a:t>TousLocation  ·  Soutenance PFE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33741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11680"/>
            <a:ext cx="91440" cy="1828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33271" y="271576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2157984"/>
            <a:ext cx="23225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Objectifs atteints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Cycle complet, encaissements, PDF, multi-boutiques.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7" y="2011680"/>
            <a:ext cx="33741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7" y="2011680"/>
            <a:ext cx="91440" cy="1828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63440" y="271576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2157984"/>
            <a:ext cx="23225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Compétences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Full-stack (Laravel + React), conception, conduite de projet.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7575" y="2011680"/>
            <a:ext cx="33741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7575" y="2011680"/>
            <a:ext cx="91440" cy="1828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93607" y="271576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6255" y="2157984"/>
            <a:ext cx="23225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Paiement en ligne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Intégration CMI / Stripe.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078224"/>
            <a:ext cx="33741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078224"/>
            <a:ext cx="91440" cy="1828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33271" y="4782312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19" y="4224528"/>
            <a:ext cx="23225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Notifications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Rappels de retour automatiques.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7" y="4078224"/>
            <a:ext cx="33741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7" y="4078224"/>
            <a:ext cx="91440" cy="18288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63440" y="4782312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76088" y="4224528"/>
            <a:ext cx="23225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Application mobile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Version native iOS / Android.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37575" y="4078224"/>
            <a:ext cx="33741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4078224"/>
            <a:ext cx="91440" cy="1828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93607" y="4782312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06255" y="4224528"/>
            <a:ext cx="23225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Exports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55"/>
                </a:solidFill>
                <a:latin typeface="Segoe UI"/>
              </a:rPr>
              <a:t>Rapports PDF / Excel.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D3A8A"/>
              </a:gs>
            </a:gsLst>
            <a:lin ang="30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62930" y="1600200"/>
            <a:ext cx="2265834" cy="163677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538" y="1892808"/>
            <a:ext cx="1680618" cy="1051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3832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Segoe UI"/>
              </a:rPr>
              <a:t>Merci de votre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CFE0F5"/>
                </a:solidFill>
                <a:latin typeface="Segoe U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