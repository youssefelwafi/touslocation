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440" y="822960"/>
            <a:ext cx="2922814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TousLocation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FD7F2"/>
                </a:solidFill>
                <a:latin typeface="Calibri"/>
              </a:rPr>
              <a:t>Application web de gestion et de location de matériel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1E3"/>
                </a:solidFill>
                <a:latin typeface="Calibri"/>
              </a:rPr>
              <a:t>Projet de Fin d'Études — Développement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5029200"/>
            <a:ext cx="5788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E6E73"/>
                </a:solidFill>
                <a:latin typeface="Calibri"/>
              </a:rPr>
              <a:t>Réalisé par :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Youssef ELWAFI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E6E73"/>
                </a:solidFill>
                <a:latin typeface="Calibri"/>
              </a:rPr>
              <a:t>Encadré par :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M. Othmane DAIF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E6E73"/>
                </a:solidFill>
                <a:latin typeface="Calibri"/>
              </a:rPr>
              <a:t>Établissement :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OFPPT – ISTA ISAG, Casablanca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E6E73"/>
                </a:solidFill>
                <a:latin typeface="Calibri"/>
              </a:rPr>
              <a:t>Année :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Contexte et problématique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Objectifs du projet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Solution proposée : TousLocation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Analyse et conception (cas d'utilisation, MVC, modèle de données, UML)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Technologies utilisées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Fonctionnalités clés et place de marché client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Sécurité et architecture multi-boutiques (SaaS)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Déploiement et démonstration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Conclusion et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Contexte et problématique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Le secteur de la location de matériel (informatique, chantier, événementiel) est en forte croissance au Maroc.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La gestion est souvent manuelle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papier, fichiers Excel — source d'erreurs et de pertes de temps.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Suivi difficile de la disponibilité et des réservations.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Facturation et encaissements peu fiables.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Aucune visibilité sur la rentabilité (revenus / coûts).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Besoin d'une solution web centralisée, moderne et adaptée au contexte marocain.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Centraliser la gestion du matériel, des clients et des locations.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Automatiser la facturation, la TVA et le suivi des paiements.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Gérer le cycle complet : achats, ventes, dépenses, inventaire.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Offrir des rapports financiers (bénéfice, chiffre d'affaires).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Permettre à plusieurs entreprises d'utiliser la plateforme (multi-boutiques / SaaS).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Proposer une interface moderne, responsive et bilingue (français / arabe).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Solution proposée : TousLocation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TousLocation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application web full-stack de gestion et de location de matériel.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Architecture API REST (Laravel) + interface SPA (React).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Place de marché multi-boutiques : chaque entreprise gère son espace isolé.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Espace client public : catalogue, recherche, panier et commande en ligne.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Documents PDF (factures, reçus), encaissements partiels et rapports.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Nomenclature 100 % française, interface bilingue FR / AR (RTL).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Acteurs et cas d'utilisation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265" y="1783080"/>
            <a:ext cx="137116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E6E73"/>
                </a:solidFill>
                <a:latin typeface="Calibri"/>
              </a:rPr>
              <a:t>Figure — Diagramme de cas d'utilisation (super-admin, gérant, employé, client)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Architecture applicative (MVC)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-m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21" y="1783080"/>
            <a:ext cx="730885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E6E73"/>
                </a:solidFill>
                <a:latin typeface="Calibri"/>
              </a:rPr>
              <a:t>Figure — Architecture MVC : React (Vue) ↔ Laravel (Contrôleur) ↔ Eloquent (Modèle)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Modèle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base-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85" y="1783080"/>
            <a:ext cx="10399324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E6E73"/>
                </a:solidFill>
                <a:latin typeface="Calibri"/>
              </a:rPr>
              <a:t>Figure — Schéma entité-association (base de données)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Diagramme de classes (UML)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240" y="1783080"/>
            <a:ext cx="361521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E6E73"/>
                </a:solidFill>
                <a:latin typeface="Calibri"/>
              </a:rPr>
              <a:t>Figure — Diagramme de classes (modèles métier)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Technologies utilisées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Backend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Laravel 13 (PHP 8.3), API REST, Eloquent ORM.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Frontend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React 18 + Vite, React Router, Axios, react-i18next.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Base de données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MySQL / MariaDB.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Authentification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Laravel Sanctum (jetons Bearer).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Documents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barryvdh/dompdf (factures et reçus PDF).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Internationalisation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français / arabe avec mise en page RTL.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Outils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Git/GitHub, Composer, npm.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Fonctionnalités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9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900" b="1" i="0">
                <a:solidFill>
                  <a:srgbClr val="0A2540"/>
                </a:solidFill>
                <a:latin typeface="Calibri"/>
              </a:rPr>
              <a:t>Catalogue matériel</a:t>
            </a:r>
            <a:r>
              <a:rPr sz="1900" b="0" i="0">
                <a:solidFill>
                  <a:srgbClr val="1D1D1F"/>
                </a:solidFill>
                <a:latin typeface="Calibri"/>
              </a:rPr>
              <a:t> — images, catégories, marques, disponibilité, battement.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9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900" b="1" i="0">
                <a:solidFill>
                  <a:srgbClr val="0A2540"/>
                </a:solidFill>
                <a:latin typeface="Calibri"/>
              </a:rPr>
              <a:t>Locations</a:t>
            </a:r>
            <a:r>
              <a:rPr sz="1900" b="0" i="0">
                <a:solidFill>
                  <a:srgbClr val="1D1D1F"/>
                </a:solidFill>
                <a:latin typeface="Calibri"/>
              </a:rPr>
              <a:t> — multi-articles, tarification au jour, TVA, paiements partiels, facture PDF.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9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900" b="1" i="0">
                <a:solidFill>
                  <a:srgbClr val="0A2540"/>
                </a:solidFill>
                <a:latin typeface="Calibri"/>
              </a:rPr>
              <a:t>Achats &amp; ventes</a:t>
            </a:r>
            <a:r>
              <a:rPr sz="1900" b="0" i="0">
                <a:solidFill>
                  <a:srgbClr val="1D1D1F"/>
                </a:solidFill>
                <a:latin typeface="Calibri"/>
              </a:rPr>
              <a:t> — gestion du stock automatique + encaissements et reçus.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9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900" b="1" i="0">
                <a:solidFill>
                  <a:srgbClr val="0A2540"/>
                </a:solidFill>
                <a:latin typeface="Calibri"/>
              </a:rPr>
              <a:t>Dépenses &amp; ajustements</a:t>
            </a:r>
            <a:r>
              <a:rPr sz="1900" b="0" i="0">
                <a:solidFill>
                  <a:srgbClr val="1D1D1F"/>
                </a:solidFill>
                <a:latin typeface="Calibri"/>
              </a:rPr>
              <a:t> — suivi des charges et de l'inventaire.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9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900" b="1" i="0">
                <a:solidFill>
                  <a:srgbClr val="0A2540"/>
                </a:solidFill>
                <a:latin typeface="Calibri"/>
              </a:rPr>
              <a:t>Rapports</a:t>
            </a:r>
            <a:r>
              <a:rPr sz="1900" b="0" i="0">
                <a:solidFill>
                  <a:srgbClr val="1D1D1F"/>
                </a:solidFill>
                <a:latin typeface="Calibri"/>
              </a:rPr>
              <a:t> — bénéfice, chiffre d'affaires, graphiques par période.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9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900" b="0" i="0">
                <a:solidFill>
                  <a:srgbClr val="1D1D1F"/>
                </a:solidFill>
                <a:latin typeface="Calibri"/>
              </a:rPr>
              <a:t>Tableau de bord Kanban des locations.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Place de marché client (panier)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8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Catalogue de toutes les boutiques en un seul espace.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8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Recherche et filtre par boutique.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8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Panier multi-articles (une boutique à la fois).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8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Période par défaut « maintenant », sans réservation dans le passé.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8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Commande rattachée automatiquement à la bonne boutique.</a:t>
            </a:r>
          </a:p>
        </p:txBody>
      </p:sp>
      <p:pic>
        <p:nvPicPr>
          <p:cNvPr id="7" name="Picture 6" descr="sequence-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920240"/>
            <a:ext cx="5120640" cy="22468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126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E6E73"/>
                </a:solidFill>
                <a:latin typeface="Calibri"/>
              </a:rPr>
              <a:t>Séquence — création d'une location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Sécurité et multi-boutiques (SaaS)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Authentification par jeton Bearer (Sanctum) ; mots de passe hachés (bcrypt).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Isolation des données par boutique via le trait TenantScoped (proprietaire_id).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Rôles : super-admin, gérant, employé, client.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Gérants créés uniquement par le super-admin.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Permissions par module pour les employés.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Clients en libre-inscription, commande sur toutes les boutiques.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Validation systématique côté serveur ; accès croisé → 404.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Adaptation au contexte marocain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Devise par défaut : Dirham (MAD / DH) ; multi-devises.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TVA marocaine configurable (20 %, 14 %, 10 %, 0 %).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Téléphones au format +212 ; dates JJ/MM/AAAA ; fuseau Africa/Casablanca.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Interface bilingue français / arabe avec mise en page RTL.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Catalogues réels marocains importés (Makita, Transpalette Maroc).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MISE EN ŒUVRE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Déploiement et 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Installation Windows « en un clic » (script automatisé : dépendances, base, données de démo).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1" i="0">
                <a:solidFill>
                  <a:srgbClr val="0A2540"/>
                </a:solidFill>
                <a:latin typeface="Calibri"/>
              </a:rPr>
              <a:t>Backend : http://127.0.0.1:8000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Frontend : http://localhost:5173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Boutiques de démonstration prêtes à l'emploi (Makita, Transpalette, EventPro).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Code source versionné sur GitHub.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Démonstration en direct : connexion, catalogue, panier, location, facture PDF, rapports.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71E3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A2540"/>
                </a:solidFill>
                <a:latin typeface="Calibri"/>
              </a:rPr>
              <a:t>Conclusion et perspectives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Tous les objectifs ont été atteints : cycle complet de location, encaissements, PDF, multi-boutiques.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0071E3"/>
                </a:solidFill>
                <a:latin typeface="Calibri"/>
              </a:rPr>
              <a:t>▸ 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Maîtrise du développement full-stack (Laravel + React) et de la conception (MVC, base de données).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Perspectives :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Paiement en ligne (CMI / Stripe).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Notifications automatiques (rappels de retour).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Application mobile native.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Export des rapports (PDF / Excel).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722" y="1828800"/>
            <a:ext cx="2338251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566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FD7F2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