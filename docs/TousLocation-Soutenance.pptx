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4440" y="822960"/>
            <a:ext cx="2922814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7432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TousLocation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FD7F2"/>
                </a:solidFill>
                <a:latin typeface="Calibri"/>
              </a:rPr>
              <a:t>Application web de gestion et de location de matériel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71E3"/>
                </a:solidFill>
                <a:latin typeface="Calibri"/>
              </a:rPr>
              <a:t>Projet de Fin d'Études — Développement 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5029200"/>
            <a:ext cx="57881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6E6E73"/>
                </a:solidFill>
                <a:latin typeface="Calibri"/>
              </a:rPr>
              <a:t>Réalisé par :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Youssef ELWAFI</a:t>
            </a:r>
          </a:p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6E6E73"/>
                </a:solidFill>
                <a:latin typeface="Calibri"/>
              </a:rPr>
              <a:t>Encadré par :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M. Othmane DAIF</a:t>
            </a:r>
          </a:p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6E6E73"/>
                </a:solidFill>
                <a:latin typeface="Calibri"/>
              </a:rPr>
              <a:t>Établissement :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OFPPT – ISTA ISAG, Casablanca</a:t>
            </a:r>
          </a:p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6E6E73"/>
                </a:solidFill>
                <a:latin typeface="Calibri"/>
              </a:rPr>
              <a:t>Année :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2025 /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71E3"/>
                </a:solidFill>
                <a:latin typeface="Calibri"/>
              </a:rPr>
              <a:t>SOMMAIRE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A2540"/>
                </a:solidFill>
                <a:latin typeface="Calibri"/>
              </a:rPr>
              <a:t>Plan de la présentation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2000" b="0" i="0">
                <a:solidFill>
                  <a:srgbClr val="1D1D1F"/>
                </a:solidFill>
                <a:latin typeface="Calibri"/>
              </a:rPr>
              <a:t>Contexte et problématique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2000" b="0" i="0">
                <a:solidFill>
                  <a:srgbClr val="1D1D1F"/>
                </a:solidFill>
                <a:latin typeface="Calibri"/>
              </a:rPr>
              <a:t>Objectifs du projet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2000" b="0" i="0">
                <a:solidFill>
                  <a:srgbClr val="1D1D1F"/>
                </a:solidFill>
                <a:latin typeface="Calibri"/>
              </a:rPr>
              <a:t>Solution proposée : TousLocation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2000" b="0" i="0">
                <a:solidFill>
                  <a:srgbClr val="1D1D1F"/>
                </a:solidFill>
                <a:latin typeface="Calibri"/>
              </a:rPr>
              <a:t>Analyse et conception (cas d'utilisation, MVC, modèle de données, UML)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2000" b="0" i="0">
                <a:solidFill>
                  <a:srgbClr val="1D1D1F"/>
                </a:solidFill>
                <a:latin typeface="Calibri"/>
              </a:rPr>
              <a:t>Technologies utilisées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2000" b="0" i="0">
                <a:solidFill>
                  <a:srgbClr val="1D1D1F"/>
                </a:solidFill>
                <a:latin typeface="Calibri"/>
              </a:rPr>
              <a:t>Fonctionnalités clés et place de marché client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2000" b="0" i="0">
                <a:solidFill>
                  <a:srgbClr val="1D1D1F"/>
                </a:solidFill>
                <a:latin typeface="Calibri"/>
              </a:rPr>
              <a:t>Sécurité et architecture multi-boutiques (SaaS)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2000" b="0" i="0">
                <a:solidFill>
                  <a:srgbClr val="1D1D1F"/>
                </a:solidFill>
                <a:latin typeface="Calibri"/>
              </a:rPr>
              <a:t>Déploiement et démonstration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2000" b="0" i="0">
                <a:solidFill>
                  <a:srgbClr val="1D1D1F"/>
                </a:solidFill>
                <a:latin typeface="Calibri"/>
              </a:rPr>
              <a:t>Conclusion et perspectives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71E3"/>
                </a:solidFill>
                <a:latin typeface="Calibr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A2540"/>
                </a:solidFill>
                <a:latin typeface="Calibri"/>
              </a:rPr>
              <a:t>Contexte et problématique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2000" b="0" i="0">
                <a:solidFill>
                  <a:srgbClr val="1D1D1F"/>
                </a:solidFill>
                <a:latin typeface="Calibri"/>
              </a:rPr>
              <a:t>Le secteur de la location de matériel (informatique, chantier, événementiel) est en forte croissance au Maroc.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2000" b="1" i="0">
                <a:solidFill>
                  <a:srgbClr val="0A2540"/>
                </a:solidFill>
                <a:latin typeface="Calibri"/>
              </a:rPr>
              <a:t>La gestion est souvent manuelle</a:t>
            </a:r>
            <a:r>
              <a:rPr sz="2000" b="0" i="0">
                <a:solidFill>
                  <a:srgbClr val="1D1D1F"/>
                </a:solidFill>
                <a:latin typeface="Calibri"/>
              </a:rPr>
              <a:t> — papier, fichiers Excel — source d'erreurs et de pertes de temps.</a:t>
            </a:r>
          </a:p>
          <a:p>
            <a:pPr lvl="1">
              <a:spcBef>
                <a:spcPts val="200"/>
              </a:spcBef>
              <a:spcAft>
                <a:spcPts val="800"/>
              </a:spcAft>
            </a:pPr>
            <a:r>
              <a:rPr sz="2000" b="0" i="0">
                <a:solidFill>
                  <a:srgbClr val="6E6E73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D1D1F"/>
                </a:solidFill>
                <a:latin typeface="Calibri"/>
              </a:rPr>
              <a:t>Suivi difficile de la disponibilité et des réservations.</a:t>
            </a:r>
          </a:p>
          <a:p>
            <a:pPr lvl="1">
              <a:spcBef>
                <a:spcPts val="200"/>
              </a:spcBef>
              <a:spcAft>
                <a:spcPts val="800"/>
              </a:spcAft>
            </a:pPr>
            <a:r>
              <a:rPr sz="2000" b="0" i="0">
                <a:solidFill>
                  <a:srgbClr val="6E6E73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D1D1F"/>
                </a:solidFill>
                <a:latin typeface="Calibri"/>
              </a:rPr>
              <a:t>Facturation et encaissements peu fiables.</a:t>
            </a:r>
          </a:p>
          <a:p>
            <a:pPr lvl="1">
              <a:spcBef>
                <a:spcPts val="200"/>
              </a:spcBef>
              <a:spcAft>
                <a:spcPts val="800"/>
              </a:spcAft>
            </a:pPr>
            <a:r>
              <a:rPr sz="2000" b="0" i="0">
                <a:solidFill>
                  <a:srgbClr val="6E6E73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D1D1F"/>
                </a:solidFill>
                <a:latin typeface="Calibri"/>
              </a:rPr>
              <a:t>Aucune visibilité sur la rentabilité (revenus / coûts).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2000" b="0" i="0">
                <a:solidFill>
                  <a:srgbClr val="1D1D1F"/>
                </a:solidFill>
                <a:latin typeface="Calibri"/>
              </a:rPr>
              <a:t>Besoin d'une solution web centralisée, moderne et adaptée au contexte marocain.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71E3"/>
                </a:solidFill>
                <a:latin typeface="Calibr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A2540"/>
                </a:solidFill>
                <a:latin typeface="Calibri"/>
              </a:rPr>
              <a:t>Objectifs du projet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2000" b="0" i="0">
                <a:solidFill>
                  <a:srgbClr val="1D1D1F"/>
                </a:solidFill>
                <a:latin typeface="Calibri"/>
              </a:rPr>
              <a:t>Centraliser la gestion du matériel, des clients et des locations.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2000" b="0" i="0">
                <a:solidFill>
                  <a:srgbClr val="1D1D1F"/>
                </a:solidFill>
                <a:latin typeface="Calibri"/>
              </a:rPr>
              <a:t>Automatiser la facturation, la TVA et le suivi des paiements.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2000" b="0" i="0">
                <a:solidFill>
                  <a:srgbClr val="1D1D1F"/>
                </a:solidFill>
                <a:latin typeface="Calibri"/>
              </a:rPr>
              <a:t>Gérer le cycle complet : achats, ventes, dépenses, inventaire.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2000" b="0" i="0">
                <a:solidFill>
                  <a:srgbClr val="1D1D1F"/>
                </a:solidFill>
                <a:latin typeface="Calibri"/>
              </a:rPr>
              <a:t>Offrir des rapports financiers (bénéfice, chiffre d'affaires).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2000" b="0" i="0">
                <a:solidFill>
                  <a:srgbClr val="1D1D1F"/>
                </a:solidFill>
                <a:latin typeface="Calibri"/>
              </a:rPr>
              <a:t>Permettre à plusieurs entreprises d'utiliser la plateforme (multi-boutiques / SaaS).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2000" b="0" i="0">
                <a:solidFill>
                  <a:srgbClr val="1D1D1F"/>
                </a:solidFill>
                <a:latin typeface="Calibri"/>
              </a:rPr>
              <a:t>Proposer une interface moderne, responsive et bilingue (français / arabe).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71E3"/>
                </a:solidFill>
                <a:latin typeface="Calibri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A2540"/>
                </a:solidFill>
                <a:latin typeface="Calibri"/>
              </a:rPr>
              <a:t>Solution proposée : TousLocation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2000" b="1" i="0">
                <a:solidFill>
                  <a:srgbClr val="0A2540"/>
                </a:solidFill>
                <a:latin typeface="Calibri"/>
              </a:rPr>
              <a:t>TousLocation</a:t>
            </a:r>
            <a:r>
              <a:rPr sz="2000" b="0" i="0">
                <a:solidFill>
                  <a:srgbClr val="1D1D1F"/>
                </a:solidFill>
                <a:latin typeface="Calibri"/>
              </a:rPr>
              <a:t> — application web full-stack de gestion et de location de matériel.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2000" b="0" i="0">
                <a:solidFill>
                  <a:srgbClr val="1D1D1F"/>
                </a:solidFill>
                <a:latin typeface="Calibri"/>
              </a:rPr>
              <a:t>Architecture API REST (Laravel) + interface SPA (React).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2000" b="0" i="0">
                <a:solidFill>
                  <a:srgbClr val="1D1D1F"/>
                </a:solidFill>
                <a:latin typeface="Calibri"/>
              </a:rPr>
              <a:t>Place de marché multi-boutiques : chaque entreprise gère son espace isolé.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2000" b="0" i="0">
                <a:solidFill>
                  <a:srgbClr val="1D1D1F"/>
                </a:solidFill>
                <a:latin typeface="Calibri"/>
              </a:rPr>
              <a:t>Espace client public : catalogue, recherche, panier et commande en ligne.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2000" b="0" i="0">
                <a:solidFill>
                  <a:srgbClr val="1D1D1F"/>
                </a:solidFill>
                <a:latin typeface="Calibri"/>
              </a:rPr>
              <a:t>Documents PDF (factures, reçus), encaissements partiels et rapports.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2000" b="0" i="0">
                <a:solidFill>
                  <a:srgbClr val="1D1D1F"/>
                </a:solidFill>
                <a:latin typeface="Calibri"/>
              </a:rPr>
              <a:t>Nomenclature 100 % française, interface bilingue FR / AR (RTL).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71E3"/>
                </a:solidFill>
                <a:latin typeface="Calibri"/>
              </a:rPr>
              <a:t>CONCEPTION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A2540"/>
                </a:solidFill>
                <a:latin typeface="Calibri"/>
              </a:rPr>
              <a:t>Acteurs et cas d'utilisation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e-c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65" y="1783080"/>
            <a:ext cx="1371164" cy="4297680"/>
          </a:xfrm>
          <a:prstGeom prst="rect">
            <a:avLst/>
          </a:prstGeom>
          <a:ln w="9525">
            <a:solidFill>
              <a:srgbClr val="E0E0E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E6E73"/>
                </a:solidFill>
                <a:latin typeface="Calibri"/>
              </a:rPr>
              <a:t>Figure — Diagramme de cas d'utilisation (super-admin, gérant, employé, client)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71E3"/>
                </a:solidFill>
                <a:latin typeface="Calibri"/>
              </a:rPr>
              <a:t>CONCEPTION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A2540"/>
                </a:solidFill>
                <a:latin typeface="Calibri"/>
              </a:rPr>
              <a:t>Architecture applicative (MVC)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rchitecture-mv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421" y="1783080"/>
            <a:ext cx="7308852" cy="4297680"/>
          </a:xfrm>
          <a:prstGeom prst="rect">
            <a:avLst/>
          </a:prstGeom>
          <a:ln w="9525">
            <a:solidFill>
              <a:srgbClr val="E0E0E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E6E73"/>
                </a:solidFill>
                <a:latin typeface="Calibri"/>
              </a:rPr>
              <a:t>Figure — Architecture MVC : React (Vue) ↔ Laravel (Contrôleur) ↔ Eloquent (Modèle)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71E3"/>
                </a:solidFill>
                <a:latin typeface="Calibri"/>
              </a:rPr>
              <a:t>CONCEPTION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A2540"/>
                </a:solidFill>
                <a:latin typeface="Calibri"/>
              </a:rPr>
              <a:t>Modèle de données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tabase-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85" y="1783080"/>
            <a:ext cx="10399324" cy="4297680"/>
          </a:xfrm>
          <a:prstGeom prst="rect">
            <a:avLst/>
          </a:prstGeom>
          <a:ln w="9525">
            <a:solidFill>
              <a:srgbClr val="E0E0E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E6E73"/>
                </a:solidFill>
                <a:latin typeface="Calibri"/>
              </a:rPr>
              <a:t>Figure — Schéma entité-association (base de données)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71E3"/>
                </a:solidFill>
                <a:latin typeface="Calibri"/>
              </a:rPr>
              <a:t>CONCEPTION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A2540"/>
                </a:solidFill>
                <a:latin typeface="Calibri"/>
              </a:rPr>
              <a:t>Diagramme de classes (UML)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ml-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240" y="1783080"/>
            <a:ext cx="3615215" cy="4297680"/>
          </a:xfrm>
          <a:prstGeom prst="rect">
            <a:avLst/>
          </a:prstGeom>
          <a:ln w="9525">
            <a:solidFill>
              <a:srgbClr val="E0E0E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E6E73"/>
                </a:solidFill>
                <a:latin typeface="Calibri"/>
              </a:rPr>
              <a:t>Figure — Diagramme de classes (modèles métier)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71E3"/>
                </a:solidFill>
                <a:latin typeface="Calibri"/>
              </a:rPr>
              <a:t>RÉALISATION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A2540"/>
                </a:solidFill>
                <a:latin typeface="Calibri"/>
              </a:rPr>
              <a:t>Technologies utilisées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2000" b="1" i="0">
                <a:solidFill>
                  <a:srgbClr val="0A2540"/>
                </a:solidFill>
                <a:latin typeface="Calibri"/>
              </a:rPr>
              <a:t>Backend</a:t>
            </a:r>
            <a:r>
              <a:rPr sz="2000" b="0" i="0">
                <a:solidFill>
                  <a:srgbClr val="1D1D1F"/>
                </a:solidFill>
                <a:latin typeface="Calibri"/>
              </a:rPr>
              <a:t> — Laravel 13 (PHP 8.3), API REST, Eloquent ORM.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2000" b="1" i="0">
                <a:solidFill>
                  <a:srgbClr val="0A2540"/>
                </a:solidFill>
                <a:latin typeface="Calibri"/>
              </a:rPr>
              <a:t>Frontend</a:t>
            </a:r>
            <a:r>
              <a:rPr sz="2000" b="0" i="0">
                <a:solidFill>
                  <a:srgbClr val="1D1D1F"/>
                </a:solidFill>
                <a:latin typeface="Calibri"/>
              </a:rPr>
              <a:t> — React 18 + Vite, React Router, Axios, react-i18next.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2000" b="1" i="0">
                <a:solidFill>
                  <a:srgbClr val="0A2540"/>
                </a:solidFill>
                <a:latin typeface="Calibri"/>
              </a:rPr>
              <a:t>Base de données</a:t>
            </a:r>
            <a:r>
              <a:rPr sz="2000" b="0" i="0">
                <a:solidFill>
                  <a:srgbClr val="1D1D1F"/>
                </a:solidFill>
                <a:latin typeface="Calibri"/>
              </a:rPr>
              <a:t> — MySQL / MariaDB.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2000" b="1" i="0">
                <a:solidFill>
                  <a:srgbClr val="0A2540"/>
                </a:solidFill>
                <a:latin typeface="Calibri"/>
              </a:rPr>
              <a:t>Authentification</a:t>
            </a:r>
            <a:r>
              <a:rPr sz="2000" b="0" i="0">
                <a:solidFill>
                  <a:srgbClr val="1D1D1F"/>
                </a:solidFill>
                <a:latin typeface="Calibri"/>
              </a:rPr>
              <a:t> — Laravel Sanctum (jetons Bearer).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2000" b="1" i="0">
                <a:solidFill>
                  <a:srgbClr val="0A2540"/>
                </a:solidFill>
                <a:latin typeface="Calibri"/>
              </a:rPr>
              <a:t>Documents</a:t>
            </a:r>
            <a:r>
              <a:rPr sz="2000" b="0" i="0">
                <a:solidFill>
                  <a:srgbClr val="1D1D1F"/>
                </a:solidFill>
                <a:latin typeface="Calibri"/>
              </a:rPr>
              <a:t> — barryvdh/dompdf (factures et reçus PDF).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2000" b="1" i="0">
                <a:solidFill>
                  <a:srgbClr val="0A2540"/>
                </a:solidFill>
                <a:latin typeface="Calibri"/>
              </a:rPr>
              <a:t>Internationalisation</a:t>
            </a:r>
            <a:r>
              <a:rPr sz="2000" b="0" i="0">
                <a:solidFill>
                  <a:srgbClr val="1D1D1F"/>
                </a:solidFill>
                <a:latin typeface="Calibri"/>
              </a:rPr>
              <a:t> — français / arabe avec mise en page RTL.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2000" b="1" i="0">
                <a:solidFill>
                  <a:srgbClr val="0A2540"/>
                </a:solidFill>
                <a:latin typeface="Calibri"/>
              </a:rPr>
              <a:t>Outils</a:t>
            </a:r>
            <a:r>
              <a:rPr sz="2000" b="0" i="0">
                <a:solidFill>
                  <a:srgbClr val="1D1D1F"/>
                </a:solidFill>
                <a:latin typeface="Calibri"/>
              </a:rPr>
              <a:t> — Git/GitHub, Composer, npm.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71E3"/>
                </a:solidFill>
                <a:latin typeface="Calibri"/>
              </a:rPr>
              <a:t>RÉALISATION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A2540"/>
                </a:solidFill>
                <a:latin typeface="Calibri"/>
              </a:rPr>
              <a:t>Fonctionnalités clés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9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1900" b="1" i="0">
                <a:solidFill>
                  <a:srgbClr val="0A2540"/>
                </a:solidFill>
                <a:latin typeface="Calibri"/>
              </a:rPr>
              <a:t>Catalogue matériel</a:t>
            </a:r>
            <a:r>
              <a:rPr sz="1900" b="0" i="0">
                <a:solidFill>
                  <a:srgbClr val="1D1D1F"/>
                </a:solidFill>
                <a:latin typeface="Calibri"/>
              </a:rPr>
              <a:t> — images, catégories, marques, disponibilité, battement.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9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1900" b="1" i="0">
                <a:solidFill>
                  <a:srgbClr val="0A2540"/>
                </a:solidFill>
                <a:latin typeface="Calibri"/>
              </a:rPr>
              <a:t>Locations</a:t>
            </a:r>
            <a:r>
              <a:rPr sz="1900" b="0" i="0">
                <a:solidFill>
                  <a:srgbClr val="1D1D1F"/>
                </a:solidFill>
                <a:latin typeface="Calibri"/>
              </a:rPr>
              <a:t> — multi-articles, tarification au jour, TVA, paiements partiels, facture PDF.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9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1900" b="1" i="0">
                <a:solidFill>
                  <a:srgbClr val="0A2540"/>
                </a:solidFill>
                <a:latin typeface="Calibri"/>
              </a:rPr>
              <a:t>Achats &amp; ventes</a:t>
            </a:r>
            <a:r>
              <a:rPr sz="1900" b="0" i="0">
                <a:solidFill>
                  <a:srgbClr val="1D1D1F"/>
                </a:solidFill>
                <a:latin typeface="Calibri"/>
              </a:rPr>
              <a:t> — gestion du stock automatique + encaissements et reçus.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9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1900" b="1" i="0">
                <a:solidFill>
                  <a:srgbClr val="0A2540"/>
                </a:solidFill>
                <a:latin typeface="Calibri"/>
              </a:rPr>
              <a:t>Dépenses &amp; ajustements</a:t>
            </a:r>
            <a:r>
              <a:rPr sz="1900" b="0" i="0">
                <a:solidFill>
                  <a:srgbClr val="1D1D1F"/>
                </a:solidFill>
                <a:latin typeface="Calibri"/>
              </a:rPr>
              <a:t> — suivi des charges et de l'inventaire.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9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1900" b="1" i="0">
                <a:solidFill>
                  <a:srgbClr val="0A2540"/>
                </a:solidFill>
                <a:latin typeface="Calibri"/>
              </a:rPr>
              <a:t>Rapports</a:t>
            </a:r>
            <a:r>
              <a:rPr sz="1900" b="0" i="0">
                <a:solidFill>
                  <a:srgbClr val="1D1D1F"/>
                </a:solidFill>
                <a:latin typeface="Calibri"/>
              </a:rPr>
              <a:t> — bénéfice, chiffre d'affaires, graphiques par période.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9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1900" b="0" i="0">
                <a:solidFill>
                  <a:srgbClr val="1D1D1F"/>
                </a:solidFill>
                <a:latin typeface="Calibri"/>
              </a:rPr>
              <a:t>Tableau de bord Kanban des locations.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71E3"/>
                </a:solidFill>
                <a:latin typeface="Calibri"/>
              </a:rPr>
              <a:t>RÉALISATION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A2540"/>
                </a:solidFill>
                <a:latin typeface="Calibri"/>
              </a:rPr>
              <a:t>Place de marché client (panier)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1800" b="0" i="0">
                <a:solidFill>
                  <a:srgbClr val="1D1D1F"/>
                </a:solidFill>
                <a:latin typeface="Calibri"/>
              </a:rPr>
              <a:t>Catalogue de toutes les boutiques en un seul espace.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1800" b="0" i="0">
                <a:solidFill>
                  <a:srgbClr val="1D1D1F"/>
                </a:solidFill>
                <a:latin typeface="Calibri"/>
              </a:rPr>
              <a:t>Recherche et filtre par boutique.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1800" b="0" i="0">
                <a:solidFill>
                  <a:srgbClr val="1D1D1F"/>
                </a:solidFill>
                <a:latin typeface="Calibri"/>
              </a:rPr>
              <a:t>Panier multi-articles (une boutique à la fois).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1800" b="0" i="0">
                <a:solidFill>
                  <a:srgbClr val="1D1D1F"/>
                </a:solidFill>
                <a:latin typeface="Calibri"/>
              </a:rPr>
              <a:t>Période par défaut « maintenant », sans réservation dans le passé.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1800" b="0" i="0">
                <a:solidFill>
                  <a:srgbClr val="1D1D1F"/>
                </a:solidFill>
                <a:latin typeface="Calibri"/>
              </a:rPr>
              <a:t>Commande rattachée automatiquement à la bonne boutique.</a:t>
            </a:r>
          </a:p>
        </p:txBody>
      </p:sp>
      <p:pic>
        <p:nvPicPr>
          <p:cNvPr id="7" name="Picture 6" descr="sequence-lo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920240"/>
            <a:ext cx="5120640" cy="22468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75120" y="6126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E6E73"/>
                </a:solidFill>
                <a:latin typeface="Calibri"/>
              </a:rPr>
              <a:t>Séquence — création d'une location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71E3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A2540"/>
                </a:solidFill>
                <a:latin typeface="Calibri"/>
              </a:rPr>
              <a:t>Sécurité et multi-boutiques (SaaS)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2000" b="0" i="0">
                <a:solidFill>
                  <a:srgbClr val="1D1D1F"/>
                </a:solidFill>
                <a:latin typeface="Calibri"/>
              </a:rPr>
              <a:t>Authentification par jeton Bearer (Sanctum) ; mots de passe hachés (bcrypt).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2000" b="0" i="0">
                <a:solidFill>
                  <a:srgbClr val="1D1D1F"/>
                </a:solidFill>
                <a:latin typeface="Calibri"/>
              </a:rPr>
              <a:t>Isolation des données par boutique via le trait TenantScoped (proprietaire_id).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2000" b="0" i="0">
                <a:solidFill>
                  <a:srgbClr val="1D1D1F"/>
                </a:solidFill>
                <a:latin typeface="Calibri"/>
              </a:rPr>
              <a:t>Rôles : super-admin, gérant, employé, client.</a:t>
            </a:r>
          </a:p>
          <a:p>
            <a:pPr lvl="1">
              <a:spcBef>
                <a:spcPts val="200"/>
              </a:spcBef>
              <a:spcAft>
                <a:spcPts val="800"/>
              </a:spcAft>
            </a:pPr>
            <a:r>
              <a:rPr sz="2000" b="0" i="0">
                <a:solidFill>
                  <a:srgbClr val="6E6E73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D1D1F"/>
                </a:solidFill>
                <a:latin typeface="Calibri"/>
              </a:rPr>
              <a:t>Gérants créés uniquement par le super-admin.</a:t>
            </a:r>
          </a:p>
          <a:p>
            <a:pPr lvl="1">
              <a:spcBef>
                <a:spcPts val="200"/>
              </a:spcBef>
              <a:spcAft>
                <a:spcPts val="800"/>
              </a:spcAft>
            </a:pPr>
            <a:r>
              <a:rPr sz="2000" b="0" i="0">
                <a:solidFill>
                  <a:srgbClr val="6E6E73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D1D1F"/>
                </a:solidFill>
                <a:latin typeface="Calibri"/>
              </a:rPr>
              <a:t>Permissions par module pour les employés.</a:t>
            </a:r>
          </a:p>
          <a:p>
            <a:pPr lvl="1">
              <a:spcBef>
                <a:spcPts val="200"/>
              </a:spcBef>
              <a:spcAft>
                <a:spcPts val="800"/>
              </a:spcAft>
            </a:pPr>
            <a:r>
              <a:rPr sz="2000" b="0" i="0">
                <a:solidFill>
                  <a:srgbClr val="6E6E73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D1D1F"/>
                </a:solidFill>
                <a:latin typeface="Calibri"/>
              </a:rPr>
              <a:t>Clients en libre-inscription, commande sur toutes les boutiques.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2000" b="0" i="0">
                <a:solidFill>
                  <a:srgbClr val="1D1D1F"/>
                </a:solidFill>
                <a:latin typeface="Calibri"/>
              </a:rPr>
              <a:t>Validation systématique côté serveur ; accès croisé → 404.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71E3"/>
                </a:solidFill>
                <a:latin typeface="Calibri"/>
              </a:rPr>
              <a:t>RÉALISATION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A2540"/>
                </a:solidFill>
                <a:latin typeface="Calibri"/>
              </a:rPr>
              <a:t>Adaptation au contexte marocain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2000" b="0" i="0">
                <a:solidFill>
                  <a:srgbClr val="1D1D1F"/>
                </a:solidFill>
                <a:latin typeface="Calibri"/>
              </a:rPr>
              <a:t>Devise par défaut : Dirham (MAD / DH) ; multi-devises.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2000" b="0" i="0">
                <a:solidFill>
                  <a:srgbClr val="1D1D1F"/>
                </a:solidFill>
                <a:latin typeface="Calibri"/>
              </a:rPr>
              <a:t>TVA marocaine configurable (20 %, 14 %, 10 %, 0 %).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2000" b="0" i="0">
                <a:solidFill>
                  <a:srgbClr val="1D1D1F"/>
                </a:solidFill>
                <a:latin typeface="Calibri"/>
              </a:rPr>
              <a:t>Téléphones au format +212 ; dates JJ/MM/AAAA ; fuseau Africa/Casablanca.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2000" b="0" i="0">
                <a:solidFill>
                  <a:srgbClr val="1D1D1F"/>
                </a:solidFill>
                <a:latin typeface="Calibri"/>
              </a:rPr>
              <a:t>Interface bilingue français / arabe avec mise en page RTL.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2000" b="0" i="0">
                <a:solidFill>
                  <a:srgbClr val="1D1D1F"/>
                </a:solidFill>
                <a:latin typeface="Calibri"/>
              </a:rPr>
              <a:t>Catalogues réels marocains importés (Makita, Transpalette Maroc).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Démonstration de l'application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FD7F2"/>
                </a:solidFill>
                <a:latin typeface="Calibri"/>
              </a:rPr>
              <a:t>Captures d'écran des principales vues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71E3"/>
                </a:solidFill>
                <a:latin typeface="Calibri"/>
              </a:rPr>
              <a:t>DÉMONSTRATION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A2540"/>
                </a:solidFill>
                <a:latin typeface="Calibri"/>
              </a:rPr>
              <a:t>Page de connexion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-connex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367" y="1691640"/>
            <a:ext cx="7680960" cy="4800600"/>
          </a:xfrm>
          <a:prstGeom prst="rect">
            <a:avLst/>
          </a:prstGeom>
          <a:ln w="9525">
            <a:solidFill>
              <a:srgbClr val="E0E0E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E6E73"/>
                </a:solidFill>
                <a:latin typeface="Calibri"/>
              </a:rPr>
              <a:t>Connexion et navigation publique (Accueil, Boutiques, langue FR/AR)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71E3"/>
                </a:solidFill>
                <a:latin typeface="Calibri"/>
              </a:rPr>
              <a:t>DÉMONSTRATION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A2540"/>
                </a:solidFill>
                <a:latin typeface="Calibri"/>
              </a:rPr>
              <a:t>Boutiques publiques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-boutiq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367" y="1691640"/>
            <a:ext cx="7680960" cy="4800600"/>
          </a:xfrm>
          <a:prstGeom prst="rect">
            <a:avLst/>
          </a:prstGeom>
          <a:ln w="9525">
            <a:solidFill>
              <a:srgbClr val="E0E0E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E6E73"/>
                </a:solidFill>
                <a:latin typeface="Calibri"/>
              </a:rPr>
              <a:t>Vitrine : liste des boutiques disponibles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71E3"/>
                </a:solidFill>
                <a:latin typeface="Calibri"/>
              </a:rPr>
              <a:t>DÉMONSTRATION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A2540"/>
                </a:solidFill>
                <a:latin typeface="Calibri"/>
              </a:rPr>
              <a:t>Tableau de bord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4-tableau-b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367" y="1691640"/>
            <a:ext cx="7680960" cy="4800600"/>
          </a:xfrm>
          <a:prstGeom prst="rect">
            <a:avLst/>
          </a:prstGeom>
          <a:ln w="9525">
            <a:solidFill>
              <a:srgbClr val="E0E0E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E6E73"/>
                </a:solidFill>
                <a:latin typeface="Calibri"/>
              </a:rPr>
              <a:t>Indicateurs clés + tableau Kanban des locations (glisser-déposer)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71E3"/>
                </a:solidFill>
                <a:latin typeface="Calibri"/>
              </a:rPr>
              <a:t>DÉMONSTRATION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A2540"/>
                </a:solidFill>
                <a:latin typeface="Calibri"/>
              </a:rPr>
              <a:t>Catalogue du matériel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5-materi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367" y="1691640"/>
            <a:ext cx="7680960" cy="4800600"/>
          </a:xfrm>
          <a:prstGeom prst="rect">
            <a:avLst/>
          </a:prstGeom>
          <a:ln w="9525">
            <a:solidFill>
              <a:srgbClr val="E0E0E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E6E73"/>
                </a:solidFill>
                <a:latin typeface="Calibri"/>
              </a:rPr>
              <a:t>Inventaire : catégorie, marque, prix/jour, stock, disponibilité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71E3"/>
                </a:solidFill>
                <a:latin typeface="Calibri"/>
              </a:rPr>
              <a:t>DÉMONSTRATION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A2540"/>
                </a:solidFill>
                <a:latin typeface="Calibri"/>
              </a:rPr>
              <a:t>Gestion des locations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6-lo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367" y="1691640"/>
            <a:ext cx="7680960" cy="4800600"/>
          </a:xfrm>
          <a:prstGeom prst="rect">
            <a:avLst/>
          </a:prstGeom>
          <a:ln w="9525">
            <a:solidFill>
              <a:srgbClr val="E0E0E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E6E73"/>
                </a:solidFill>
                <a:latin typeface="Calibri"/>
              </a:rPr>
              <a:t>Locations : TVA, statut de paiement, facture PDF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71E3"/>
                </a:solidFill>
                <a:latin typeface="Calibri"/>
              </a:rPr>
              <a:t>DÉMONSTRATION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A2540"/>
                </a:solidFill>
                <a:latin typeface="Calibri"/>
              </a:rPr>
              <a:t>Gestion des achats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7-ach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367" y="1691640"/>
            <a:ext cx="7680960" cy="4800600"/>
          </a:xfrm>
          <a:prstGeom prst="rect">
            <a:avLst/>
          </a:prstGeom>
          <a:ln w="9525">
            <a:solidFill>
              <a:srgbClr val="E0E0E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E6E73"/>
                </a:solidFill>
                <a:latin typeface="Calibri"/>
              </a:rPr>
              <a:t>Approvisionnement : statut, réception, encaissements fournisseur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71E3"/>
                </a:solidFill>
                <a:latin typeface="Calibri"/>
              </a:rPr>
              <a:t>DÉMONSTRATION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A2540"/>
                </a:solidFill>
                <a:latin typeface="Calibri"/>
              </a:rPr>
              <a:t>Rapports et statistiques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9-rap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367" y="1691640"/>
            <a:ext cx="7680960" cy="4800600"/>
          </a:xfrm>
          <a:prstGeom prst="rect">
            <a:avLst/>
          </a:prstGeom>
          <a:ln w="9525">
            <a:solidFill>
              <a:srgbClr val="E0E0E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E6E73"/>
                </a:solidFill>
                <a:latin typeface="Calibri"/>
              </a:rPr>
              <a:t>Bénéfice, chiffre d'affaires et graphiques par période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71E3"/>
                </a:solidFill>
                <a:latin typeface="Calibri"/>
              </a:rPr>
              <a:t>DÉMONSTRATION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A2540"/>
                </a:solidFill>
                <a:latin typeface="Calibri"/>
              </a:rPr>
              <a:t>Paramètres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0-paramet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367" y="1691640"/>
            <a:ext cx="7680960" cy="4800600"/>
          </a:xfrm>
          <a:prstGeom prst="rect">
            <a:avLst/>
          </a:prstGeom>
          <a:ln w="9525">
            <a:solidFill>
              <a:srgbClr val="E0E0E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E6E73"/>
                </a:solidFill>
                <a:latin typeface="Calibri"/>
              </a:rPr>
              <a:t>Référentiels : TVA, devises, unités, catégories, marques, paiements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71E3"/>
                </a:solidFill>
                <a:latin typeface="Calibri"/>
              </a:rPr>
              <a:t>DÉMONSTRATION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A2540"/>
                </a:solidFill>
                <a:latin typeface="Calibri"/>
              </a:rPr>
              <a:t>Place de marché client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1-magas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367" y="1691640"/>
            <a:ext cx="7680960" cy="4800600"/>
          </a:xfrm>
          <a:prstGeom prst="rect">
            <a:avLst/>
          </a:prstGeom>
          <a:ln w="9525">
            <a:solidFill>
              <a:srgbClr val="E0E0E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E6E73"/>
                </a:solidFill>
                <a:latin typeface="Calibri"/>
              </a:rPr>
              <a:t>Catalogue multi-boutiques : recherche, filtre boutique et panier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71E3"/>
                </a:solidFill>
                <a:latin typeface="Calibri"/>
              </a:rPr>
              <a:t>DÉMONSTRATION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A2540"/>
                </a:solidFill>
                <a:latin typeface="Calibri"/>
              </a:rPr>
              <a:t>Espace client — Mes locations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2-mes-lo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367" y="1691640"/>
            <a:ext cx="7680960" cy="4800600"/>
          </a:xfrm>
          <a:prstGeom prst="rect">
            <a:avLst/>
          </a:prstGeom>
          <a:ln w="9525">
            <a:solidFill>
              <a:srgbClr val="E0E0E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E6E73"/>
                </a:solidFill>
                <a:latin typeface="Calibri"/>
              </a:rPr>
              <a:t>Suivi des locations et téléchargement des factures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71E3"/>
                </a:solidFill>
                <a:latin typeface="Calibri"/>
              </a:rPr>
              <a:t>MISE EN ŒUVRE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A2540"/>
                </a:solidFill>
                <a:latin typeface="Calibri"/>
              </a:rPr>
              <a:t>Déploiement et démonstration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2000" b="0" i="0">
                <a:solidFill>
                  <a:srgbClr val="1D1D1F"/>
                </a:solidFill>
                <a:latin typeface="Calibri"/>
              </a:rPr>
              <a:t>Installation Windows « en un clic » (script automatisé : dépendances, base, données de démo).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2000" b="1" i="0">
                <a:solidFill>
                  <a:srgbClr val="0A2540"/>
                </a:solidFill>
                <a:latin typeface="Calibri"/>
              </a:rPr>
              <a:t>Backend : http://127.0.0.1:8000</a:t>
            </a:r>
            <a:r>
              <a:rPr sz="2000" b="0" i="0">
                <a:solidFill>
                  <a:srgbClr val="1D1D1F"/>
                </a:solidFill>
                <a:latin typeface="Calibri"/>
              </a:rPr>
              <a:t> — Frontend : http://localhost:5173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2000" b="0" i="0">
                <a:solidFill>
                  <a:srgbClr val="1D1D1F"/>
                </a:solidFill>
                <a:latin typeface="Calibri"/>
              </a:rPr>
              <a:t>Boutiques de démonstration prêtes à l'emploi (Makita, Transpalette, EventPro).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2000" b="0" i="0">
                <a:solidFill>
                  <a:srgbClr val="1D1D1F"/>
                </a:solidFill>
                <a:latin typeface="Calibri"/>
              </a:rPr>
              <a:t>Code source versionné sur GitHub.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2000" b="0" i="0">
                <a:solidFill>
                  <a:srgbClr val="1D1D1F"/>
                </a:solidFill>
                <a:latin typeface="Calibri"/>
              </a:rPr>
              <a:t>Démonstration en direct : connexion, catalogue, panier, location, facture PDF, rapports.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71E3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A2540"/>
                </a:solidFill>
                <a:latin typeface="Calibri"/>
              </a:rPr>
              <a:t>Conclusion et perspectives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2000" b="0" i="0">
                <a:solidFill>
                  <a:srgbClr val="1D1D1F"/>
                </a:solidFill>
                <a:latin typeface="Calibri"/>
              </a:rPr>
              <a:t>Tous les objectifs ont été atteints : cycle complet de location, encaissements, PDF, multi-boutiques.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0071E3"/>
                </a:solidFill>
                <a:latin typeface="Calibri"/>
              </a:rPr>
              <a:t>▸ </a:t>
            </a:r>
            <a:r>
              <a:rPr sz="2000" b="0" i="0">
                <a:solidFill>
                  <a:srgbClr val="1D1D1F"/>
                </a:solidFill>
                <a:latin typeface="Calibri"/>
              </a:rPr>
              <a:t>Maîtrise du développement full-stack (Laravel + React) et de la conception (MVC, base de données).</a:t>
            </a:r>
          </a:p>
          <a:p>
            <a:pPr lvl="1">
              <a:spcBef>
                <a:spcPts val="200"/>
              </a:spcBef>
              <a:spcAft>
                <a:spcPts val="800"/>
              </a:spcAft>
            </a:pPr>
            <a:r>
              <a:rPr sz="2000" b="0" i="0">
                <a:solidFill>
                  <a:srgbClr val="6E6E73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D1D1F"/>
                </a:solidFill>
                <a:latin typeface="Calibri"/>
              </a:rPr>
              <a:t>Perspectives :</a:t>
            </a:r>
          </a:p>
          <a:p>
            <a:pPr lvl="1">
              <a:spcBef>
                <a:spcPts val="200"/>
              </a:spcBef>
              <a:spcAft>
                <a:spcPts val="800"/>
              </a:spcAft>
            </a:pPr>
            <a:r>
              <a:rPr sz="2000" b="0" i="0">
                <a:solidFill>
                  <a:srgbClr val="6E6E73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D1D1F"/>
                </a:solidFill>
                <a:latin typeface="Calibri"/>
              </a:rPr>
              <a:t>Paiement en ligne (CMI / Stripe).</a:t>
            </a:r>
          </a:p>
          <a:p>
            <a:pPr lvl="1">
              <a:spcBef>
                <a:spcPts val="200"/>
              </a:spcBef>
              <a:spcAft>
                <a:spcPts val="800"/>
              </a:spcAft>
            </a:pPr>
            <a:r>
              <a:rPr sz="2000" b="0" i="0">
                <a:solidFill>
                  <a:srgbClr val="6E6E73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D1D1F"/>
                </a:solidFill>
                <a:latin typeface="Calibri"/>
              </a:rPr>
              <a:t>Notifications automatiques (rappels de retour).</a:t>
            </a:r>
          </a:p>
          <a:p>
            <a:pPr lvl="1">
              <a:spcBef>
                <a:spcPts val="200"/>
              </a:spcBef>
              <a:spcAft>
                <a:spcPts val="800"/>
              </a:spcAft>
            </a:pPr>
            <a:r>
              <a:rPr sz="2000" b="0" i="0">
                <a:solidFill>
                  <a:srgbClr val="6E6E73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D1D1F"/>
                </a:solidFill>
                <a:latin typeface="Calibri"/>
              </a:rPr>
              <a:t>Application mobile native.</a:t>
            </a:r>
          </a:p>
          <a:p>
            <a:pPr lvl="1">
              <a:spcBef>
                <a:spcPts val="200"/>
              </a:spcBef>
              <a:spcAft>
                <a:spcPts val="800"/>
              </a:spcAft>
            </a:pPr>
            <a:r>
              <a:rPr sz="2000" b="0" i="0">
                <a:solidFill>
                  <a:srgbClr val="6E6E73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D1D1F"/>
                </a:solidFill>
                <a:latin typeface="Calibri"/>
              </a:rPr>
              <a:t>Export des rapports (PDF / Excel).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722" y="1828800"/>
            <a:ext cx="2338251" cy="146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6616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Merci de votre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48056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FD7F2"/>
                </a:solidFill>
                <a:latin typeface="Calibri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